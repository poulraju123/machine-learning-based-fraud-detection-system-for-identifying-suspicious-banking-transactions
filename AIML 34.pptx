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Open Sans Light"/>
      <p:regular r:id="rId201322"/>
    </p:embeddedFont>
    <p:embeddedFont>
      <p:font typeface="Open Sans Bold"/>
      <p:regular r:id="rId201323"/>
    </p:embeddedFont>
    <p:embeddedFont>
      <p:font typeface="Open Sans"/>
      <p:regular r:id="rId201324"/>
    </p:embeddedFont>
    <p:embeddedFont>
      <p:font typeface="Open Sans Medium"/>
      <p:regular r:id="rId201325"/>
    </p:embeddedFont>
    <p:embeddedFont>
      <p:font typeface="Open Sans SemiBold"/>
      <p:regular r:id="rId201326"/>
    </p:embeddedFont>
    <p:embeddedFont>
      <p:font typeface="Open Sans Extra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Machine Learning-Based Fraud Detection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Suspicious Banking Transactions in Real Time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06502"/>
            <a:ext cx="1714128" cy="215354"/>
          </a:xfrm>
          <a:prstGeom prst="roundRect">
            <a:avLst>
              <a:gd name="adj" fmla="val 22119"/>
            </a:avLst>
          </a:prstGeom>
          <a:solidFill>
            <a:srgbClr val="EBE2E0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48992"/>
            <a:ext cx="20012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· FINANCIAL SECURITY · ML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65609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Growing Fraud Threat in Digital Banking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306488"/>
            <a:ext cx="4722763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500 million digital transactions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processed daily worldwide. Financial fraud costs the global economy an estimated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$10.5 trillion annually by 2025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Traditional systems cannot keep pace with the speed, scale, and sophistication of modern fraud.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1894805"/>
            <a:ext cx="4722763" cy="628278"/>
          </a:xfrm>
          <a:prstGeom prst="roundRect">
            <a:avLst>
              <a:gd name="adj" fmla="val 755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3842" y="2012528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Evolving Fraud Patterns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3842" y="2242989"/>
            <a:ext cx="44873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Rule-based systems fail to detect novel attack vectors and emerging techniques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96119" y="2613050"/>
            <a:ext cx="4722763" cy="628278"/>
          </a:xfrm>
          <a:prstGeom prst="roundRect">
            <a:avLst>
              <a:gd name="adj" fmla="val 755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3842" y="2730773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 False Positives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3842" y="2961233"/>
            <a:ext cx="44873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Legitimate transactions flagged, causing customer friction and operational overhead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6119" y="3331294"/>
            <a:ext cx="4722763" cy="628278"/>
          </a:xfrm>
          <a:prstGeom prst="roundRect">
            <a:avLst>
              <a:gd name="adj" fmla="val 755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3842" y="3449017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Delayed Detection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3842" y="3679478"/>
            <a:ext cx="44873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Batch processing introduces critical delays, allowing fraud to compound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6119" y="4049539"/>
            <a:ext cx="4722763" cy="628278"/>
          </a:xfrm>
          <a:prstGeom prst="roundRect">
            <a:avLst>
              <a:gd name="adj" fmla="val 755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3842" y="4167262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Manual Monitoring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3842" y="4397722"/>
            <a:ext cx="44873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analysts cannot scale to millions of daily transactions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096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Intelligent Detection: The ML-Powered Solution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75705"/>
            <a:ext cx="5217319" cy="2956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0521" y="2162845"/>
            <a:ext cx="2702049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ingests transaction records and classifies them in real time using advanced ML models. Each transaction is evaluated across multiple dimensions: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837" y="3979069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5681" y="3976092"/>
            <a:ext cx="37262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Transaction Profile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05681" y="4163318"/>
            <a:ext cx="372628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Amount, frequency, time, and merchant category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7679" y="3979069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21523" y="3976092"/>
            <a:ext cx="37263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Behavioral Signals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4921523" y="4163318"/>
            <a:ext cx="3726359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history, device fingerprint, and location anomalies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837" y="4421684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5681" y="4418707"/>
            <a:ext cx="37262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805681" y="4605933"/>
            <a:ext cx="372628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Fraud probability score (0–100) assigned per transaction</a:t>
            </a:r>
            <a:endParaRPr lang="en-US" sz="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7679" y="4421684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21523" y="4418707"/>
            <a:ext cx="372635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Alert Generation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4921523" y="4605933"/>
            <a:ext cx="3726359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alerts with severity levels for immediate action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</a:t>
            </a:r>
            <a:endParaRPr lang="en-US" sz="1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52847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262369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Outer: Data &amp; Cloud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551891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PostgreSQL, Redis, Data Lake, Kubernetes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08443" y="2488577"/>
            <a:ext cx="1807755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Middle: Business &amp; App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778098"/>
            <a:ext cx="1827290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 and Alert Management, REST APIs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121717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Core: ML Prediction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411238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Engine, Fraud Model, Risk Scorer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539630"/>
            <a:ext cx="815176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six-layer architecture ensures separation of concerns, scalability, and fault tolerance. The ML Prediction Layer operates independently, enabling model updates without disrupting transaction processing or user-facing services.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446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End-to-End Fraud Detection Workflow</a:t>
            </a:r>
            <a:endParaRPr lang="en-US" sz="1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85068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067" y="970489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Capture &amp; Auth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067" y="1253641"/>
            <a:ext cx="1426538" cy="2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transaction and authenticate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4929" y="3721670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Validate &amp; Prep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34929" y="4004822"/>
            <a:ext cx="1434376" cy="2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Cleanse and normalize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30115" y="832832"/>
            <a:ext cx="1426538" cy="44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30115" y="1336431"/>
            <a:ext cx="1426538" cy="2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signals for models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0977" y="3721670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Inference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0977" y="4004822"/>
            <a:ext cx="1426539" cy="2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fraud probability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515594"/>
            <a:ext cx="815176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transaction is processed in under </a:t>
            </a:r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200 milliseconds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 pipeline supports continuous learning — investigator feedback and new fraud patterns are fed back into model retraining cycles, ensuring the system adapts to evolving threats.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48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Machine Learning Model Pipeline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58701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Algorithm Selection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498550"/>
            <a:ext cx="391105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supports multiple classifiers, with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XGBoost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LightGBM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 primary models due to their performance on imbalanced financial data.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1590" y="1158701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Handling Class Imbalance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41590" y="1498550"/>
            <a:ext cx="3911054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Fraud represents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&lt;1%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transactions. The system uses SMOTE oversampling, cost-sensitive learning, and anomaly detection to maintain high recall without inflating false positives.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41590" y="2487885"/>
            <a:ext cx="3911054" cy="932483"/>
          </a:xfrm>
          <a:prstGeom prst="roundRect">
            <a:avLst>
              <a:gd name="adj" fmla="val 6086"/>
            </a:avLst>
          </a:prstGeom>
          <a:solidFill>
            <a:srgbClr val="EBE2E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51" y="2695575"/>
            <a:ext cx="168846" cy="1350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80558" y="2637458"/>
            <a:ext cx="333702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Key Metric: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ROC-AUC &gt; 0.97 achieved on benchmark datasets using XGBoost with tuned hyperparameters.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3710136"/>
            <a:ext cx="1941388" cy="1018803"/>
          </a:xfrm>
          <a:prstGeom prst="roundRect">
            <a:avLst>
              <a:gd name="adj" fmla="val 5570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230" y="3864248"/>
            <a:ext cx="16331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Tree-Based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0230" y="4152602"/>
            <a:ext cx="16331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Forest, XGBoost, LightGBM, CatBoost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66243" y="3710136"/>
            <a:ext cx="1941388" cy="1018803"/>
          </a:xfrm>
          <a:prstGeom prst="roundRect">
            <a:avLst>
              <a:gd name="adj" fmla="val 5570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20355" y="3864248"/>
            <a:ext cx="16331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Linear &amp; SVM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20355" y="4152602"/>
            <a:ext cx="16331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Regression, Support Vector Machine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36368" y="3710136"/>
            <a:ext cx="1941388" cy="1018803"/>
          </a:xfrm>
          <a:prstGeom prst="roundRect">
            <a:avLst>
              <a:gd name="adj" fmla="val 5570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90480" y="3864248"/>
            <a:ext cx="16331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90480" y="4152602"/>
            <a:ext cx="16331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Learning, Autoencoders, LSTM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06493" y="3710136"/>
            <a:ext cx="1941388" cy="1018803"/>
          </a:xfrm>
          <a:prstGeom prst="roundRect">
            <a:avLst>
              <a:gd name="adj" fmla="val 5570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60604" y="3864248"/>
            <a:ext cx="16331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Ensemble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60604" y="4152602"/>
            <a:ext cx="16331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Stacking, Voting, Gradient Boosting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Performance &amp; Evaluation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Interpreting the Metrics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Recall (92%)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ensures most fraud is caught.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Precision (95%)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minimizes false positives, reducing customer friction.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F1-Score (93%)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balances both concerns.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48322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Confusion Matrix: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Validates true/false positive and negative rates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ROC-AUC (97%):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Strong discrimination between fraud and legitimate transactions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Detection Latency: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Under 200ms per transaction in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53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Technology Stack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58838"/>
            <a:ext cx="256952" cy="256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61269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Frontend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6119" y="1731764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React.js, Angular, D3.js, Chart.js for real-time dashboards and responsive UI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4703" y="1058838"/>
            <a:ext cx="256952" cy="2569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4703" y="1461269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Backend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4703" y="1731764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(Flask/FastAPI), Node.js, Spring Boot for REST APIs and microservices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56470"/>
            <a:ext cx="256952" cy="256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758901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6119" y="3029396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PostgreSQL, Redis, Apache Kafka, Elasticsearch for transactional and analytical storage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4703" y="2356470"/>
            <a:ext cx="256952" cy="2569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4703" y="2758901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ML Framework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4703" y="3029396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Scikit-learn, XGBoost, TensorFlow, PyTorch, MLflow for model training and serving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54103"/>
            <a:ext cx="256952" cy="2569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056534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Cloud &amp; DevOps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96119" y="4327029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AWS/GCP, Kubernetes, Docker, Terraform for scalable, containerized deployment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4703" y="3654103"/>
            <a:ext cx="256952" cy="2569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4703" y="4056534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4703" y="4327029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OAuth 2.0, JWT, AES-256 encryption, TLS 1.3, RBAC for data protection and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Real-World Applications &amp; Key Advantages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5542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Core Advantages</a:t>
            </a:r>
            <a:endParaRPr lang="en-US" sz="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386" y="2502471"/>
            <a:ext cx="1979340" cy="2594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8035" y="2511996"/>
            <a:ext cx="187769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Detection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4758035" y="2663875"/>
            <a:ext cx="1877690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Sub-second fraud identification at transaction level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3304" y="2502471"/>
            <a:ext cx="1979340" cy="2594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74954" y="2511996"/>
            <a:ext cx="187769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Reduced False Positives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6774954" y="2663875"/>
            <a:ext cx="1877690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precision minimizes legitimate transaction blocks</a:t>
            </a:r>
            <a:endParaRPr lang="en-US" sz="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6386" y="2818284"/>
            <a:ext cx="1979340" cy="2594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58035" y="2827809"/>
            <a:ext cx="187769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Regulatory Compliance</a:t>
            </a:r>
            <a:endParaRPr lang="en-US" sz="700" dirty="0"/>
          </a:p>
        </p:txBody>
      </p:sp>
      <p:sp>
        <p:nvSpPr>
          <p:cNvPr id="13" name="Text 7"/>
          <p:cNvSpPr/>
          <p:nvPr/>
        </p:nvSpPr>
        <p:spPr>
          <a:xfrm>
            <a:off x="4758035" y="2979688"/>
            <a:ext cx="1877690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logs, reports, and controls for RBI, PCI-DSS, GDPR</a:t>
            </a:r>
            <a:endParaRPr lang="en-US" sz="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3304" y="2818284"/>
            <a:ext cx="1979340" cy="25948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74954" y="2827809"/>
            <a:ext cx="187769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Scalable Deployment</a:t>
            </a:r>
            <a:endParaRPr lang="en-US" sz="700" dirty="0"/>
          </a:p>
        </p:txBody>
      </p:sp>
      <p:sp>
        <p:nvSpPr>
          <p:cNvPr id="16" name="Text 9"/>
          <p:cNvSpPr/>
          <p:nvPr/>
        </p:nvSpPr>
        <p:spPr>
          <a:xfrm>
            <a:off x="6774954" y="2979688"/>
            <a:ext cx="1877690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Cloud-native architecture handles millions of TPS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2810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Challenges &amp; The Road Ahead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1003102"/>
            <a:ext cx="4722763" cy="2739330"/>
          </a:xfrm>
          <a:prstGeom prst="roundRect">
            <a:avLst>
              <a:gd name="adj" fmla="val 190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1" y="1007864"/>
            <a:ext cx="4713238" cy="1364903"/>
          </a:xfrm>
          <a:custGeom>
            <a:avLst/>
            <a:gdLst/>
            <a:ahLst/>
            <a:cxnLst/>
            <a:rect l="l" t="t" r="r" b="b"/>
            <a:pathLst>
              <a:path w="4713238" h="1364903">
                <a:moveTo>
                  <a:pt x="43416" y="0"/>
                </a:moveTo>
                <a:lnTo>
                  <a:pt x="4669822" y="0"/>
                </a:lnTo>
                <a:arcTo hR="43416" wR="43416" stAng="16200000" swAng="5400000"/>
                <a:lnTo>
                  <a:pt x="4713238" y="1364903"/>
                </a:lnTo>
                <a:lnTo>
                  <a:pt x="0" y="1364903"/>
                </a:lnTo>
                <a:lnTo>
                  <a:pt x="0" y="43416"/>
                </a:lnTo>
                <a:arcTo hR="43416" wR="43416" stAng="10800000" swAng="5400000"/>
                <a:close/>
              </a:path>
            </a:pathLst>
          </a:custGeom>
          <a:solidFill>
            <a:srgbClr val="EBE2E0"/>
          </a:solidFill>
          <a:ln/>
        </p:spPr>
      </p:sp>
      <p:sp>
        <p:nvSpPr>
          <p:cNvPr id="6" name="Text 3"/>
          <p:cNvSpPr/>
          <p:nvPr/>
        </p:nvSpPr>
        <p:spPr>
          <a:xfrm>
            <a:off x="4053855" y="1131838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3855" y="1390799"/>
            <a:ext cx="4465290" cy="8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Highly imbalanced fraud datasets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Emerging fraud techniques &amp; adversarial attacks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Legacy system integration complexity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privacy &amp; regulatory compliance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29881" y="2372767"/>
            <a:ext cx="4713238" cy="1364903"/>
          </a:xfrm>
          <a:custGeom>
            <a:avLst/>
            <a:gdLst/>
            <a:ahLst/>
            <a:cxnLst/>
            <a:rect l="l" t="t" r="r" b="b"/>
            <a:pathLst>
              <a:path w="4713238" h="1364903">
                <a:moveTo>
                  <a:pt x="0" y="0"/>
                </a:moveTo>
                <a:lnTo>
                  <a:pt x="4713238" y="0"/>
                </a:lnTo>
                <a:lnTo>
                  <a:pt x="4713238" y="1321486"/>
                </a:lnTo>
                <a:arcTo hR="43416" wR="43416" stAng="0" swAng="5400000"/>
                <a:lnTo>
                  <a:pt x="43416" y="1364903"/>
                </a:lnTo>
                <a:arcTo hR="43416" wR="43416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</p:sp>
      <p:sp>
        <p:nvSpPr>
          <p:cNvPr id="9" name="Shape 6"/>
          <p:cNvSpPr/>
          <p:nvPr/>
        </p:nvSpPr>
        <p:spPr>
          <a:xfrm>
            <a:off x="3929881" y="2372767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D1C8C6"/>
          </a:solidFill>
          <a:ln/>
        </p:spPr>
      </p:sp>
      <p:sp>
        <p:nvSpPr>
          <p:cNvPr id="10" name="Text 7"/>
          <p:cNvSpPr/>
          <p:nvPr/>
        </p:nvSpPr>
        <p:spPr>
          <a:xfrm>
            <a:off x="4053855" y="2496741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53855" y="2755702"/>
            <a:ext cx="4465290" cy="8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 Neural Networks for fraud relationship mapping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Explainable AI for transparent decisions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Federated Learning for privacy-preserving training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Behavioral biometrics &amp; blockchain integration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25119" y="3864471"/>
            <a:ext cx="4722763" cy="826145"/>
          </a:xfrm>
          <a:prstGeom prst="roundRect">
            <a:avLst>
              <a:gd name="adj" fmla="val 6306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4039493"/>
            <a:ext cx="155004" cy="1239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28071" y="4003923"/>
            <a:ext cx="4195837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Conclusion: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ML-powered system delivers real-time, intelligent fraud detection — reducing losses, strengthening security, and enabling scalable, compliant operations for modern financial institutions.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2026-07-28T05:36:36Z</dcterms:created>
  <dcterms:modified xsi:type="dcterms:W3CDTF">2026-07-28T05:36:36Z</dcterms:modified>
</cp:coreProperties>
</file>